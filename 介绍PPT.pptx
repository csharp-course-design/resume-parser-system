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417" r:id="rId3"/>
    <p:sldId id="279" r:id="rId5"/>
    <p:sldId id="395" r:id="rId6"/>
    <p:sldId id="449" r:id="rId7"/>
    <p:sldId id="450" r:id="rId8"/>
    <p:sldId id="451" r:id="rId9"/>
    <p:sldId id="464" r:id="rId10"/>
    <p:sldId id="483" r:id="rId11"/>
    <p:sldId id="446" r:id="rId12"/>
    <p:sldId id="453" r:id="rId13"/>
    <p:sldId id="454" r:id="rId14"/>
    <p:sldId id="455" r:id="rId15"/>
    <p:sldId id="457" r:id="rId16"/>
    <p:sldId id="458" r:id="rId17"/>
    <p:sldId id="475" r:id="rId18"/>
    <p:sldId id="474" r:id="rId19"/>
    <p:sldId id="447" r:id="rId20"/>
    <p:sldId id="465" r:id="rId21"/>
    <p:sldId id="466" r:id="rId22"/>
    <p:sldId id="482" r:id="rId23"/>
    <p:sldId id="479" r:id="rId24"/>
    <p:sldId id="480" r:id="rId25"/>
    <p:sldId id="477" r:id="rId26"/>
    <p:sldId id="478" r:id="rId27"/>
    <p:sldId id="481" r:id="rId28"/>
    <p:sldId id="467" r:id="rId29"/>
    <p:sldId id="448" r:id="rId30"/>
    <p:sldId id="459" r:id="rId31"/>
    <p:sldId id="460" r:id="rId32"/>
    <p:sldId id="461" r:id="rId33"/>
    <p:sldId id="463" r:id="rId34"/>
    <p:sldId id="284" r:id="rId35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7DC5"/>
    <a:srgbClr val="F0DDC0"/>
    <a:srgbClr val="C77054"/>
    <a:srgbClr val="4A302B"/>
    <a:srgbClr val="FFF4F2"/>
    <a:srgbClr val="3F5264"/>
    <a:srgbClr val="2F5597"/>
    <a:srgbClr val="FAFBFE"/>
    <a:srgbClr val="99B2DF"/>
    <a:srgbClr val="3D6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7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16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</a:rPr>
            </a:fld>
            <a:endParaRPr lang="zh-CN" altLang="en-US">
              <a:latin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</a:rPr>
            </a:fld>
            <a:endParaRPr lang="zh-CN" altLang="en-US">
              <a:latin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B7185D51-3D05-4571-A283-B4A35CD20C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60FB187E-2E7E-4C60-849C-ECEFA0A1AE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image" Target="../media/image6.png"/><Relationship Id="rId18" Type="http://schemas.openxmlformats.org/officeDocument/2006/relationships/tags" Target="../tags/tag15.xml"/><Relationship Id="rId17" Type="http://schemas.openxmlformats.org/officeDocument/2006/relationships/image" Target="../media/image5.png"/><Relationship Id="rId16" Type="http://schemas.openxmlformats.org/officeDocument/2006/relationships/tags" Target="../tags/tag14.xml"/><Relationship Id="rId15" Type="http://schemas.openxmlformats.org/officeDocument/2006/relationships/image" Target="../media/image4.png"/><Relationship Id="rId14" Type="http://schemas.openxmlformats.org/officeDocument/2006/relationships/tags" Target="../tags/tag13.xml"/><Relationship Id="rId13" Type="http://schemas.openxmlformats.org/officeDocument/2006/relationships/image" Target="../media/image3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7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稻壳儿智宇https://www.docer.com/works?userid=328340712"/>
          <p:cNvSpPr/>
          <p:nvPr/>
        </p:nvSpPr>
        <p:spPr>
          <a:xfrm>
            <a:off x="0" y="1610117"/>
            <a:ext cx="12192000" cy="360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稻壳儿智宇https://www.docer.com/works?userid=328340712"/>
          <p:cNvSpPr/>
          <p:nvPr/>
        </p:nvSpPr>
        <p:spPr>
          <a:xfrm>
            <a:off x="0" y="1726945"/>
            <a:ext cx="12192000" cy="2590414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稻壳儿智宇https://www.docer.com/works?userid=328340712"/>
          <p:cNvSpPr/>
          <p:nvPr/>
        </p:nvSpPr>
        <p:spPr>
          <a:xfrm>
            <a:off x="0" y="4398187"/>
            <a:ext cx="12192000" cy="360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稻壳儿智宇https://www.docer.com/works?userid=328340712"/>
          <p:cNvSpPr/>
          <p:nvPr/>
        </p:nvSpPr>
        <p:spPr>
          <a:xfrm>
            <a:off x="5206512" y="744990"/>
            <a:ext cx="1778976" cy="17789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1" name="图片 100"/>
          <p:cNvPicPr/>
          <p:nvPr/>
        </p:nvPicPr>
        <p:blipFill>
          <a:blip r:embed="rId1"/>
          <a:srcRect l="10599" t="5969" r="8438" b="3970"/>
          <a:stretch>
            <a:fillRect/>
          </a:stretch>
        </p:blipFill>
        <p:spPr>
          <a:xfrm>
            <a:off x="5278755" y="807720"/>
            <a:ext cx="1652270" cy="1564005"/>
          </a:xfrm>
          <a:prstGeom prst="ellipse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/>
        </p:nvSpPr>
        <p:spPr>
          <a:xfrm>
            <a:off x="3028315" y="5115560"/>
            <a:ext cx="6515735" cy="747395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</a:endParaRPr>
          </a:p>
        </p:txBody>
      </p:sp>
      <p:sp>
        <p:nvSpPr>
          <p:cNvPr id="5" name="稻壳儿智宇https://www.docer.com/works?userid=328340712"/>
          <p:cNvSpPr/>
          <p:nvPr/>
        </p:nvSpPr>
        <p:spPr>
          <a:xfrm>
            <a:off x="3282319" y="2780571"/>
            <a:ext cx="6008370" cy="101536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/>
            <a:r>
              <a:rPr lang="zh-CN" altLang="en-US" sz="6600" b="1" spc="6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简历解析系统 </a:t>
            </a:r>
            <a:endParaRPr lang="zh-CN" altLang="en-US" sz="6600" b="1" spc="60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90525" y="5209002"/>
            <a:ext cx="627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</a:rPr>
              <a:t>组员：魏鹏超，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  <a:sym typeface="+mn-ea"/>
              </a:rPr>
              <a:t>赵雨禾，刘子默，</a:t>
            </a:r>
            <a:r>
              <a:rPr lang="zh-CN" altLang="en-US" sz="2000" dirty="0">
                <a:latin typeface="仿宋" panose="02010609060101010101" charset="-122"/>
                <a:ea typeface="仿宋" panose="02010609060101010101" charset="-122"/>
              </a:rPr>
              <a:t>孟松，吴心豪，王翔</a:t>
            </a:r>
            <a:endParaRPr lang="zh-CN" altLang="en-US" sz="2000" dirty="0"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828540" y="4775200"/>
            <a:ext cx="2552700" cy="0"/>
          </a:xfrm>
          <a:prstGeom prst="line">
            <a:avLst/>
          </a:prstGeom>
          <a:ln w="12700">
            <a:solidFill>
              <a:srgbClr val="077D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3" y="1"/>
            <a:ext cx="5470527" cy="899337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6211668"/>
            <a:ext cx="12192000" cy="646331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780540" y="2816860"/>
            <a:ext cx="445897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需求分析与分工管理</a:t>
            </a:r>
            <a:endParaRPr lang="en-US" altLang="zh-CN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988430" y="3440491"/>
            <a:ext cx="3118939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PROJECT BACKGROUND OVERVIEW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7244080" y="2816860"/>
            <a:ext cx="451421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系统设计与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技术架构</a:t>
            </a:r>
            <a:endParaRPr lang="en-US" altLang="zh-CN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7416800" y="3453765"/>
            <a:ext cx="45351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TECHNICAL ARCHITECTURE AND CONCRETE IMPLEMENTATION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905635" y="4309745"/>
            <a:ext cx="384492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系统功能设计实现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2056130" y="4954905"/>
            <a:ext cx="35172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FUNCTIONAL MODULE DESIGN AND IMPLEMENTATION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7282180" y="4309745"/>
            <a:ext cx="448818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项目难点与解决方案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9"/>
            </p:custDataLst>
          </p:nvPr>
        </p:nvSpPr>
        <p:spPr>
          <a:xfrm>
            <a:off x="7957623" y="4947445"/>
            <a:ext cx="3118939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PROJECT DIFFICULTIES AND SOLUTIONS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man_56832"/>
          <p:cNvSpPr/>
          <p:nvPr>
            <p:custDataLst>
              <p:tags r:id="rId10"/>
            </p:custDataLst>
          </p:nvPr>
        </p:nvSpPr>
        <p:spPr>
          <a:xfrm>
            <a:off x="1233548" y="3063333"/>
            <a:ext cx="329020" cy="352238"/>
          </a:xfrm>
          <a:custGeom>
            <a:avLst/>
            <a:gdLst>
              <a:gd name="connsiteX0" fmla="*/ 191941 w 566993"/>
              <a:gd name="connsiteY0" fmla="*/ 362212 h 607004"/>
              <a:gd name="connsiteX1" fmla="*/ 203101 w 566993"/>
              <a:gd name="connsiteY1" fmla="*/ 369284 h 607004"/>
              <a:gd name="connsiteX2" fmla="*/ 283545 w 566993"/>
              <a:gd name="connsiteY2" fmla="*/ 479135 h 607004"/>
              <a:gd name="connsiteX3" fmla="*/ 363893 w 566993"/>
              <a:gd name="connsiteY3" fmla="*/ 369284 h 607004"/>
              <a:gd name="connsiteX4" fmla="*/ 375052 w 566993"/>
              <a:gd name="connsiteY4" fmla="*/ 362212 h 607004"/>
              <a:gd name="connsiteX5" fmla="*/ 381165 w 566993"/>
              <a:gd name="connsiteY5" fmla="*/ 363859 h 607004"/>
              <a:gd name="connsiteX6" fmla="*/ 452585 w 566993"/>
              <a:gd name="connsiteY6" fmla="*/ 400476 h 607004"/>
              <a:gd name="connsiteX7" fmla="*/ 566993 w 566993"/>
              <a:gd name="connsiteY7" fmla="*/ 477585 h 607004"/>
              <a:gd name="connsiteX8" fmla="*/ 566993 w 566993"/>
              <a:gd name="connsiteY8" fmla="*/ 607004 h 607004"/>
              <a:gd name="connsiteX9" fmla="*/ 283545 w 566993"/>
              <a:gd name="connsiteY9" fmla="*/ 607004 h 607004"/>
              <a:gd name="connsiteX10" fmla="*/ 0 w 566993"/>
              <a:gd name="connsiteY10" fmla="*/ 607004 h 607004"/>
              <a:gd name="connsiteX11" fmla="*/ 0 w 566993"/>
              <a:gd name="connsiteY11" fmla="*/ 477585 h 607004"/>
              <a:gd name="connsiteX12" fmla="*/ 114408 w 566993"/>
              <a:gd name="connsiteY12" fmla="*/ 400476 h 607004"/>
              <a:gd name="connsiteX13" fmla="*/ 185828 w 566993"/>
              <a:gd name="connsiteY13" fmla="*/ 363859 h 607004"/>
              <a:gd name="connsiteX14" fmla="*/ 191941 w 566993"/>
              <a:gd name="connsiteY14" fmla="*/ 362212 h 607004"/>
              <a:gd name="connsiteX15" fmla="*/ 281913 w 566993"/>
              <a:gd name="connsiteY15" fmla="*/ 0 h 607004"/>
              <a:gd name="connsiteX16" fmla="*/ 283368 w 566993"/>
              <a:gd name="connsiteY16" fmla="*/ 0 h 607004"/>
              <a:gd name="connsiteX17" fmla="*/ 284727 w 566993"/>
              <a:gd name="connsiteY17" fmla="*/ 0 h 607004"/>
              <a:gd name="connsiteX18" fmla="*/ 410778 w 566993"/>
              <a:gd name="connsiteY18" fmla="*/ 107256 h 607004"/>
              <a:gd name="connsiteX19" fmla="*/ 402627 w 566993"/>
              <a:gd name="connsiteY19" fmla="*/ 162580 h 607004"/>
              <a:gd name="connsiteX20" fmla="*/ 414077 w 566993"/>
              <a:gd name="connsiteY20" fmla="*/ 188933 h 607004"/>
              <a:gd name="connsiteX21" fmla="*/ 384675 w 566993"/>
              <a:gd name="connsiteY21" fmla="*/ 242222 h 607004"/>
              <a:gd name="connsiteX22" fmla="*/ 321892 w 566993"/>
              <a:gd name="connsiteY22" fmla="*/ 318280 h 607004"/>
              <a:gd name="connsiteX23" fmla="*/ 283368 w 566993"/>
              <a:gd name="connsiteY23" fmla="*/ 327000 h 607004"/>
              <a:gd name="connsiteX24" fmla="*/ 244747 w 566993"/>
              <a:gd name="connsiteY24" fmla="*/ 318280 h 607004"/>
              <a:gd name="connsiteX25" fmla="*/ 182062 w 566993"/>
              <a:gd name="connsiteY25" fmla="*/ 242222 h 607004"/>
              <a:gd name="connsiteX26" fmla="*/ 152562 w 566993"/>
              <a:gd name="connsiteY26" fmla="*/ 188933 h 607004"/>
              <a:gd name="connsiteX27" fmla="*/ 164110 w 566993"/>
              <a:gd name="connsiteY27" fmla="*/ 162580 h 607004"/>
              <a:gd name="connsiteX28" fmla="*/ 155959 w 566993"/>
              <a:gd name="connsiteY28" fmla="*/ 107256 h 607004"/>
              <a:gd name="connsiteX29" fmla="*/ 281913 w 566993"/>
              <a:gd name="connsiteY29" fmla="*/ 0 h 607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66993" h="607004">
                <a:moveTo>
                  <a:pt x="191941" y="362212"/>
                </a:moveTo>
                <a:cubicBezTo>
                  <a:pt x="196890" y="362212"/>
                  <a:pt x="201160" y="365118"/>
                  <a:pt x="203101" y="369284"/>
                </a:cubicBezTo>
                <a:cubicBezTo>
                  <a:pt x="222508" y="401638"/>
                  <a:pt x="258412" y="477391"/>
                  <a:pt x="283545" y="479135"/>
                </a:cubicBezTo>
                <a:cubicBezTo>
                  <a:pt x="308581" y="477391"/>
                  <a:pt x="344485" y="401638"/>
                  <a:pt x="363893" y="369284"/>
                </a:cubicBezTo>
                <a:cubicBezTo>
                  <a:pt x="365833" y="365118"/>
                  <a:pt x="370103" y="362212"/>
                  <a:pt x="375052" y="362212"/>
                </a:cubicBezTo>
                <a:cubicBezTo>
                  <a:pt x="377284" y="362212"/>
                  <a:pt x="379322" y="362793"/>
                  <a:pt x="381165" y="363859"/>
                </a:cubicBezTo>
                <a:cubicBezTo>
                  <a:pt x="388152" y="367637"/>
                  <a:pt x="429102" y="392048"/>
                  <a:pt x="452585" y="400476"/>
                </a:cubicBezTo>
                <a:cubicBezTo>
                  <a:pt x="531574" y="428859"/>
                  <a:pt x="566993" y="457823"/>
                  <a:pt x="566993" y="477585"/>
                </a:cubicBezTo>
                <a:lnTo>
                  <a:pt x="566993" y="607004"/>
                </a:lnTo>
                <a:lnTo>
                  <a:pt x="283545" y="607004"/>
                </a:lnTo>
                <a:lnTo>
                  <a:pt x="0" y="607004"/>
                </a:lnTo>
                <a:lnTo>
                  <a:pt x="0" y="477585"/>
                </a:lnTo>
                <a:cubicBezTo>
                  <a:pt x="0" y="457823"/>
                  <a:pt x="35419" y="428859"/>
                  <a:pt x="114408" y="400476"/>
                </a:cubicBezTo>
                <a:cubicBezTo>
                  <a:pt x="137891" y="392048"/>
                  <a:pt x="178841" y="367637"/>
                  <a:pt x="185828" y="363859"/>
                </a:cubicBezTo>
                <a:cubicBezTo>
                  <a:pt x="187672" y="362793"/>
                  <a:pt x="189710" y="362212"/>
                  <a:pt x="191941" y="362212"/>
                </a:cubicBezTo>
                <a:close/>
                <a:moveTo>
                  <a:pt x="281913" y="0"/>
                </a:moveTo>
                <a:cubicBezTo>
                  <a:pt x="282398" y="0"/>
                  <a:pt x="282883" y="0"/>
                  <a:pt x="283368" y="0"/>
                </a:cubicBezTo>
                <a:cubicBezTo>
                  <a:pt x="283756" y="0"/>
                  <a:pt x="284242" y="0"/>
                  <a:pt x="284727" y="0"/>
                </a:cubicBezTo>
                <a:cubicBezTo>
                  <a:pt x="393214" y="0"/>
                  <a:pt x="413592" y="77317"/>
                  <a:pt x="410778" y="107256"/>
                </a:cubicBezTo>
                <a:cubicBezTo>
                  <a:pt x="408449" y="131284"/>
                  <a:pt x="402627" y="162580"/>
                  <a:pt x="402627" y="162580"/>
                </a:cubicBezTo>
                <a:cubicBezTo>
                  <a:pt x="402627" y="162580"/>
                  <a:pt x="414077" y="167812"/>
                  <a:pt x="414077" y="188933"/>
                </a:cubicBezTo>
                <a:cubicBezTo>
                  <a:pt x="410099" y="241835"/>
                  <a:pt x="388945" y="218969"/>
                  <a:pt x="384675" y="242222"/>
                </a:cubicBezTo>
                <a:cubicBezTo>
                  <a:pt x="377397" y="280784"/>
                  <a:pt x="343240" y="308688"/>
                  <a:pt x="321892" y="318280"/>
                </a:cubicBezTo>
                <a:cubicBezTo>
                  <a:pt x="309568" y="323900"/>
                  <a:pt x="296759" y="326709"/>
                  <a:pt x="283368" y="327000"/>
                </a:cubicBezTo>
                <a:cubicBezTo>
                  <a:pt x="269880" y="326709"/>
                  <a:pt x="257168" y="323900"/>
                  <a:pt x="244747" y="318280"/>
                </a:cubicBezTo>
                <a:cubicBezTo>
                  <a:pt x="223496" y="308688"/>
                  <a:pt x="189242" y="280784"/>
                  <a:pt x="182062" y="242222"/>
                </a:cubicBezTo>
                <a:cubicBezTo>
                  <a:pt x="177695" y="218969"/>
                  <a:pt x="156638" y="241835"/>
                  <a:pt x="152562" y="188933"/>
                </a:cubicBezTo>
                <a:cubicBezTo>
                  <a:pt x="152562" y="167812"/>
                  <a:pt x="164110" y="162580"/>
                  <a:pt x="164110" y="162580"/>
                </a:cubicBezTo>
                <a:cubicBezTo>
                  <a:pt x="164110" y="162580"/>
                  <a:pt x="158190" y="131284"/>
                  <a:pt x="155959" y="107256"/>
                </a:cubicBezTo>
                <a:cubicBezTo>
                  <a:pt x="153047" y="77317"/>
                  <a:pt x="173425" y="0"/>
                  <a:pt x="2819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1455420" y="304165"/>
            <a:ext cx="9144000" cy="1574165"/>
          </a:xfrm>
        </p:spPr>
        <p:txBody>
          <a:bodyPr/>
          <a:p>
            <a:r>
              <a:rPr lang="zh-CN" altLang="en-US" b="0" dirty="0">
                <a:solidFill>
                  <a:schemeClr val="tx2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系</a:t>
            </a:r>
            <a:r>
              <a:rPr lang="en-US" altLang="zh-CN" b="0" dirty="0">
                <a:solidFill>
                  <a:schemeClr val="tx2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lang="zh-CN" altLang="en-US" b="0" dirty="0">
                <a:solidFill>
                  <a:schemeClr val="tx2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统</a:t>
            </a:r>
            <a:r>
              <a:rPr lang="en-US" altLang="zh-CN" b="0" dirty="0">
                <a:solidFill>
                  <a:schemeClr val="tx2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lang="zh-CN" altLang="en-US" b="0" dirty="0">
                <a:solidFill>
                  <a:schemeClr val="tx2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介</a:t>
            </a:r>
            <a:r>
              <a:rPr lang="en-US" altLang="zh-CN" b="0" dirty="0">
                <a:solidFill>
                  <a:schemeClr val="tx2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 </a:t>
            </a:r>
            <a:r>
              <a:rPr lang="zh-CN" altLang="en-US" b="0" dirty="0">
                <a:solidFill>
                  <a:schemeClr val="tx2"/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绍</a:t>
            </a:r>
            <a:endParaRPr lang="zh-CN" altLang="en-US" dirty="0"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  <p:pic>
        <p:nvPicPr>
          <p:cNvPr id="18" name="图片 17" descr="1165030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48400" y="4387215"/>
            <a:ext cx="931545" cy="931545"/>
          </a:xfrm>
          <a:prstGeom prst="rect">
            <a:avLst/>
          </a:prstGeom>
        </p:spPr>
      </p:pic>
      <p:pic>
        <p:nvPicPr>
          <p:cNvPr id="20" name="图片 19" descr="409648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963930" y="4364355"/>
            <a:ext cx="812800" cy="812800"/>
          </a:xfrm>
          <a:prstGeom prst="rect">
            <a:avLst/>
          </a:prstGeom>
        </p:spPr>
      </p:pic>
      <p:pic>
        <p:nvPicPr>
          <p:cNvPr id="22" name="图片 21" descr="391158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63930" y="2809875"/>
            <a:ext cx="812800" cy="812800"/>
          </a:xfrm>
          <a:prstGeom prst="rect">
            <a:avLst/>
          </a:prstGeom>
        </p:spPr>
      </p:pic>
      <p:pic>
        <p:nvPicPr>
          <p:cNvPr id="24" name="图片 23" descr="790113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304915" y="2809875"/>
            <a:ext cx="873760" cy="873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24635" y="2650490"/>
            <a:ext cx="8778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需求分析</a:t>
            </a:r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与分工管理</a:t>
            </a:r>
            <a:endParaRPr lang="en-US" altLang="zh-CN" sz="7200" dirty="0">
              <a:solidFill>
                <a:schemeClr val="tx1">
                  <a:lumMod val="75000"/>
                  <a:lumOff val="25000"/>
                </a:schemeClr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851400" y="4004061"/>
            <a:ext cx="2552700" cy="0"/>
          </a:xfrm>
          <a:prstGeom prst="line">
            <a:avLst/>
          </a:prstGeom>
          <a:ln w="12700">
            <a:solidFill>
              <a:srgbClr val="077D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/>
          <p:cNvSpPr/>
          <p:nvPr/>
        </p:nvSpPr>
        <p:spPr>
          <a:xfrm>
            <a:off x="4932361" y="1880930"/>
            <a:ext cx="2327276" cy="461665"/>
          </a:xfrm>
          <a:prstGeom prst="roundRect">
            <a:avLst>
              <a:gd name="adj" fmla="val 50000"/>
            </a:avLst>
          </a:prstGeom>
          <a:solidFill>
            <a:srgbClr val="077DC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22054" y="1889968"/>
            <a:ext cx="21478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PART-01</a:t>
            </a:r>
            <a:endParaRPr lang="zh-CN" altLang="en-US" sz="2400" dirty="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0" y="533400"/>
            <a:ext cx="8243570" cy="5605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2"/>
          <a:srcRect b="43721"/>
          <a:stretch>
            <a:fillRect/>
          </a:stretch>
        </p:blipFill>
        <p:spPr>
          <a:xfrm>
            <a:off x="241300" y="932180"/>
            <a:ext cx="5417820" cy="534987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rcRect t="56386"/>
          <a:stretch>
            <a:fillRect/>
          </a:stretch>
        </p:blipFill>
        <p:spPr>
          <a:xfrm>
            <a:off x="5827395" y="932180"/>
            <a:ext cx="5630545" cy="53505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47515" y="259080"/>
            <a:ext cx="3133090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</a:rPr>
              <a:t>系统功能需求分析</a:t>
            </a:r>
            <a:endParaRPr lang="zh-CN" altLang="en-US" sz="2800" b="1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19550" y="259080"/>
            <a:ext cx="3665855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</a:rPr>
              <a:t>系统非功能需求分析</a:t>
            </a:r>
            <a:endParaRPr lang="zh-CN" altLang="en-US" sz="28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1073150"/>
            <a:ext cx="5295900" cy="1562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50" y="3061970"/>
            <a:ext cx="4450080" cy="12877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0" y="4624070"/>
            <a:ext cx="5120640" cy="16764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351915"/>
            <a:ext cx="5303520" cy="11049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7440" y="3199130"/>
            <a:ext cx="5486400" cy="11506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440" y="4852670"/>
            <a:ext cx="5189220" cy="121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37710" y="259080"/>
            <a:ext cx="3665855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</a:rPr>
              <a:t>团队协作方式</a:t>
            </a:r>
            <a:endParaRPr lang="zh-CN" altLang="en-US" sz="28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330" y="932180"/>
            <a:ext cx="7328535" cy="50673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754110" y="2861310"/>
            <a:ext cx="3185160" cy="2703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使用</a:t>
            </a:r>
            <a:r>
              <a:rPr lang="en-US" altLang="zh-CN"/>
              <a:t> GITHUB DESKTOP </a:t>
            </a:r>
            <a:r>
              <a:rPr lang="zh-CN" altLang="en-US"/>
              <a:t>协作开发，提供版本管理和任务协作功能。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985" y="1073150"/>
            <a:ext cx="1252220" cy="1097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91075" y="259080"/>
            <a:ext cx="3665855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</a:rPr>
              <a:t>分工安排及理由</a:t>
            </a:r>
            <a:endParaRPr lang="en-US" altLang="zh-CN" sz="28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5" y="1073785"/>
            <a:ext cx="6007735" cy="39039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690" y="1073150"/>
            <a:ext cx="4983480" cy="4434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16405" y="2650490"/>
            <a:ext cx="88233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技术架构与系统设计</a:t>
            </a:r>
            <a:endParaRPr lang="zh-CN" altLang="en-US" sz="7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dist"/>
            <a:endParaRPr lang="zh-CN" altLang="en-US" sz="7200" dirty="0">
              <a:solidFill>
                <a:schemeClr val="tx1">
                  <a:lumMod val="75000"/>
                  <a:lumOff val="25000"/>
                </a:schemeClr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851400" y="4004061"/>
            <a:ext cx="2552700" cy="0"/>
          </a:xfrm>
          <a:prstGeom prst="line">
            <a:avLst/>
          </a:prstGeom>
          <a:ln w="12700">
            <a:solidFill>
              <a:srgbClr val="077D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/>
          <p:cNvSpPr/>
          <p:nvPr/>
        </p:nvSpPr>
        <p:spPr>
          <a:xfrm>
            <a:off x="4932361" y="1880930"/>
            <a:ext cx="2327276" cy="461665"/>
          </a:xfrm>
          <a:prstGeom prst="roundRect">
            <a:avLst>
              <a:gd name="adj" fmla="val 50000"/>
            </a:avLst>
          </a:prstGeom>
          <a:solidFill>
            <a:srgbClr val="077DC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22054" y="1889968"/>
            <a:ext cx="21478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PART-02</a:t>
            </a:r>
            <a:endParaRPr lang="zh-CN" altLang="en-US" sz="2400" dirty="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73295" y="259080"/>
            <a:ext cx="3133090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</a:rPr>
              <a:t>系统架构</a:t>
            </a:r>
            <a:endParaRPr lang="zh-CN" altLang="en-US" sz="28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932180"/>
            <a:ext cx="8854440" cy="35128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65" y="4262120"/>
            <a:ext cx="8917305" cy="1927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93" y="1501140"/>
            <a:ext cx="9095105" cy="22396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10" y="3901440"/>
            <a:ext cx="9641840" cy="18891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8910" y="600710"/>
            <a:ext cx="3291840" cy="472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" y="1073150"/>
            <a:ext cx="9912350" cy="4434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1073150"/>
            <a:ext cx="9523095" cy="17068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3186430"/>
            <a:ext cx="8708390" cy="2338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" y="1073150"/>
            <a:ext cx="10374630" cy="4688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40300" y="259080"/>
            <a:ext cx="3133090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</a:rPr>
              <a:t>前端设计</a:t>
            </a:r>
            <a:endParaRPr lang="zh-CN" altLang="en-US" sz="28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1437640"/>
            <a:ext cx="6901815" cy="39871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303" y="726467"/>
            <a:ext cx="3997531" cy="289574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991" y="3692175"/>
            <a:ext cx="4055846" cy="29488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52" y="917294"/>
            <a:ext cx="8004678" cy="502341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04162" y="2384385"/>
            <a:ext cx="2540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添加资源字典：相当于重写了菜单样式，包括主菜单，子菜单，主</a:t>
            </a:r>
            <a:r>
              <a:rPr lang="en-US" altLang="zh-CN" dirty="0"/>
              <a:t>-</a:t>
            </a:r>
            <a:r>
              <a:rPr lang="zh-CN" altLang="en-US" dirty="0"/>
              <a:t>子菜单。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349" y="3972377"/>
            <a:ext cx="3460260" cy="12651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302173" y="2650283"/>
            <a:ext cx="757495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系统功能设计实现</a:t>
            </a:r>
            <a:endParaRPr lang="zh-CN" altLang="en-US" sz="7200" dirty="0">
              <a:solidFill>
                <a:schemeClr val="tx1">
                  <a:lumMod val="75000"/>
                  <a:lumOff val="25000"/>
                </a:schemeClr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851400" y="4004061"/>
            <a:ext cx="2552700" cy="0"/>
          </a:xfrm>
          <a:prstGeom prst="line">
            <a:avLst/>
          </a:prstGeom>
          <a:ln w="12700">
            <a:solidFill>
              <a:srgbClr val="077D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/>
          <p:cNvSpPr/>
          <p:nvPr/>
        </p:nvSpPr>
        <p:spPr>
          <a:xfrm>
            <a:off x="4932361" y="1880930"/>
            <a:ext cx="2327276" cy="461665"/>
          </a:xfrm>
          <a:prstGeom prst="roundRect">
            <a:avLst>
              <a:gd name="adj" fmla="val 50000"/>
            </a:avLst>
          </a:prstGeom>
          <a:solidFill>
            <a:srgbClr val="077DC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22054" y="1889968"/>
            <a:ext cx="21478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PART-03</a:t>
            </a:r>
            <a:endParaRPr lang="zh-CN" altLang="en-US" sz="2400" dirty="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83" y="323850"/>
            <a:ext cx="10439400" cy="6534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544" y="19050"/>
            <a:ext cx="9867900" cy="6838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223" y="540796"/>
            <a:ext cx="1085850" cy="419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516" y="0"/>
            <a:ext cx="7233047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6223" y="1581373"/>
            <a:ext cx="3162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数据库的简历信息实体类设计以及关键字表格设计：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方便用户进行关键字查询以及语义匹配功能的实现。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47515" y="259080"/>
            <a:ext cx="3133090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</a:rPr>
              <a:t>简历内容提取</a:t>
            </a:r>
            <a:endParaRPr lang="zh-CN" altLang="en-US" sz="28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70" y="1631950"/>
            <a:ext cx="5463540" cy="31318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202805" y="1845310"/>
            <a:ext cx="4317365" cy="291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/>
              <a:t>1. </a:t>
            </a:r>
            <a:r>
              <a:rPr lang="zh-CN" altLang="en-US" dirty="0"/>
              <a:t>提取简历内容并导出三种格式</a:t>
            </a:r>
            <a:r>
              <a:rPr lang="en-US" altLang="zh-CN" dirty="0"/>
              <a:t> : JSON, XML, CSV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之后在使用相关格式的文件时进行文件是否已存在的检测，提高系统效率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05375" y="490220"/>
            <a:ext cx="3133090" cy="67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华文楷体" panose="02010600040101010101" charset="-122"/>
                <a:ea typeface="华文楷体" panose="02010600040101010101" charset="-122"/>
              </a:rPr>
              <a:t>格式转换</a:t>
            </a:r>
            <a:endParaRPr lang="zh-CN" altLang="en-US" sz="2800" b="1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0" y="2550795"/>
            <a:ext cx="2043430" cy="4679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dirty="0"/>
              <a:t>设计格式工厂，</a:t>
            </a:r>
            <a:r>
              <a:rPr lang="en-US" altLang="zh-CN" dirty="0"/>
              <a:t>Content() </a:t>
            </a:r>
            <a:r>
              <a:rPr lang="zh-CN" altLang="en-US" dirty="0"/>
              <a:t>函数将解析信息类转为对应格式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  <a:r>
              <a:rPr lang="en-US" altLang="zh-CN" dirty="0"/>
              <a:t>Model() </a:t>
            </a:r>
            <a:r>
              <a:rPr lang="zh-CN" altLang="en-US" dirty="0"/>
              <a:t>将对应格式转为解析信息类。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1270635"/>
            <a:ext cx="4187190" cy="12801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748280"/>
            <a:ext cx="4444365" cy="3543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425" y="1271270"/>
            <a:ext cx="5229225" cy="501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00" y="1073151"/>
            <a:ext cx="11563350" cy="50577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30" y="560902"/>
            <a:ext cx="2790825" cy="5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36" y="790575"/>
            <a:ext cx="11582400" cy="5276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36" y="362979"/>
            <a:ext cx="2790825" cy="5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" y="807085"/>
            <a:ext cx="9946640" cy="4993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" y="194143"/>
            <a:ext cx="9937657" cy="340448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958" y="2699497"/>
            <a:ext cx="8933547" cy="3964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45310" y="2650490"/>
            <a:ext cx="86252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行楷" panose="02010800040101010101" charset="-122"/>
                <a:ea typeface="华文行楷" panose="02010800040101010101" charset="-122"/>
                <a:sym typeface="+mn-ea"/>
              </a:rPr>
              <a:t>项目难点与解决方案</a:t>
            </a:r>
            <a:endParaRPr lang="zh-CN" altLang="en-US" sz="7200" dirty="0">
              <a:solidFill>
                <a:schemeClr val="tx1">
                  <a:lumMod val="75000"/>
                  <a:lumOff val="25000"/>
                </a:schemeClr>
              </a:solidFill>
              <a:latin typeface="华文行楷" panose="02010800040101010101" charset="-122"/>
              <a:ea typeface="华文行楷" panose="02010800040101010101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851400" y="4004061"/>
            <a:ext cx="2552700" cy="0"/>
          </a:xfrm>
          <a:prstGeom prst="line">
            <a:avLst/>
          </a:prstGeom>
          <a:ln w="12700">
            <a:solidFill>
              <a:srgbClr val="077D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/>
          <p:cNvSpPr/>
          <p:nvPr/>
        </p:nvSpPr>
        <p:spPr>
          <a:xfrm>
            <a:off x="4932361" y="1880930"/>
            <a:ext cx="2327276" cy="461665"/>
          </a:xfrm>
          <a:prstGeom prst="roundRect">
            <a:avLst>
              <a:gd name="adj" fmla="val 50000"/>
            </a:avLst>
          </a:prstGeom>
          <a:solidFill>
            <a:srgbClr val="077DC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022054" y="1889968"/>
            <a:ext cx="21478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  <a:cs typeface="+mn-ea"/>
                <a:sym typeface="+mn-lt"/>
              </a:rPr>
              <a:t>PART-04</a:t>
            </a:r>
            <a:endParaRPr lang="zh-CN" altLang="en-US" sz="2400" dirty="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1073150"/>
            <a:ext cx="10694670" cy="47002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1200150"/>
            <a:ext cx="10740390" cy="419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1200150"/>
            <a:ext cx="10740390" cy="419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073150"/>
            <a:ext cx="10287635" cy="4389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8" b="75624"/>
          <a:stretch>
            <a:fillRect/>
          </a:stretch>
        </p:blipFill>
        <p:spPr>
          <a:xfrm flipH="1">
            <a:off x="-2" y="1"/>
            <a:ext cx="6527801" cy="1073150"/>
          </a:xfrm>
          <a:prstGeom prst="rect">
            <a:avLst/>
          </a:prstGeom>
        </p:spPr>
      </p:pic>
      <p:pic>
        <p:nvPicPr>
          <p:cNvPr id="7" name="图片 6" descr="图片包含 背景图案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2"/>
          <a:stretch>
            <a:fillRect/>
          </a:stretch>
        </p:blipFill>
        <p:spPr>
          <a:xfrm flipH="1">
            <a:off x="-1" y="5930900"/>
            <a:ext cx="12192000" cy="92709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924649" y="1838146"/>
            <a:ext cx="83427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感谢老师批评指正</a:t>
            </a:r>
            <a:endParaRPr lang="zh-CN" altLang="en-US" sz="7200" dirty="0">
              <a:solidFill>
                <a:schemeClr val="tx1">
                  <a:lumMod val="85000"/>
                  <a:lumOff val="15000"/>
                </a:schemeClr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932045" y="3502025"/>
            <a:ext cx="2552700" cy="0"/>
          </a:xfrm>
          <a:prstGeom prst="line">
            <a:avLst/>
          </a:prstGeom>
          <a:ln w="12700">
            <a:solidFill>
              <a:srgbClr val="077D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ISLIDE.VECTOR" val="#186231;#246068;#186164;"/>
</p:tagLst>
</file>

<file path=ppt/tags/tag2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3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4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5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6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7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8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9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10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13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14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15.xml><?xml version="1.0" encoding="utf-8"?>
<p:tagLst xmlns:p="http://schemas.openxmlformats.org/presentationml/2006/main">
  <p:tag name="KSO_WM_DIAGRAM_VIRTUALLY_FRAME" val="{&quot;height&quot;:212.52228346456695,&quot;left&quot;:107.1,&quot;top&quot;:221.22771653543305,&quot;width&quot;:852.9}"/>
</p:tagLst>
</file>

<file path=ppt/tags/tag16.xml><?xml version="1.0" encoding="utf-8"?>
<p:tagLst xmlns:p="http://schemas.openxmlformats.org/presentationml/2006/main">
  <p:tag name="ISLIDE.GUIDESSETTING" val="{&quot;Id&quot;:&quot;edc3d11b-7d28-430f-a7f6-a4376700bbeb&quot;,&quot;Name&quot;:null,&quot;Kind&quot;:&quot;Custom&quot;,&quot;OldGuidesSetting&quot;:{&quot;HeaderHeight&quot;:0.0,&quot;FooterHeight&quot;:0.0,&quot;SideMargin&quot;:0.0,&quot;TopMargin&quot;:0.0,&quot;BottomMargin&quot;:0.0,&quot;IntervalMargin&quot;:0.0}}"/>
  <p:tag name="KSO_WPP_MARK_KEY" val="cb4747ab-e49d-42b2-8f74-d1d7628d13e3"/>
  <p:tag name="COMMONDATA" val="eyJjb3VudCI6MSwiaGRpZCI6IjUxOWZjYjJjMDJhZDNkZGE3ZjhhYTkyMmEyOGZhY2IzIiwidXNlckNvdW50IjoxfQ=="/>
  <p:tag name="commondata" val="eyJjb3VudCI6MiwiaGRpZCI6ImVhMTUwYjBiZDBmMDdkMjljNDc0NWU2MzRiOWIxZWNkIiwidXNlckNvdW50Ijox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b3acev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WPS 演示</Application>
  <PresentationFormat>宽屏</PresentationFormat>
  <Paragraphs>71</Paragraphs>
  <Slides>32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汉仪君黑-45简</vt:lpstr>
      <vt:lpstr>楷体</vt:lpstr>
      <vt:lpstr>仿宋</vt:lpstr>
      <vt:lpstr>华文行楷</vt:lpstr>
      <vt:lpstr>华文楷体</vt:lpstr>
      <vt:lpstr>黑体</vt:lpstr>
      <vt:lpstr>Arial Unicode MS</vt:lpstr>
      <vt:lpstr>华文新魏</vt:lpstr>
      <vt:lpstr>Office 主题​​</vt:lpstr>
      <vt:lpstr>PowerPoint 演示文稿</vt:lpstr>
      <vt:lpstr>系 统 介 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蔚破冲</cp:lastModifiedBy>
  <cp:revision>186</cp:revision>
  <dcterms:created xsi:type="dcterms:W3CDTF">2023-04-14T07:58:00Z</dcterms:created>
  <dcterms:modified xsi:type="dcterms:W3CDTF">2024-12-28T01:01:17Z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KSOTemplateUUID">
    <vt:lpwstr>v1.0_mb_JCpeZURO5bKUNlmwSxSTMg==</vt:lpwstr>
  </property>
  <property fmtid="{D5CDD505-2E9C-101B-9397-08002B2CF9AE}" pid="4" name="ICV">
    <vt:lpwstr>8B5E1C5B2C9F481EB9FADDEBAD710769_13</vt:lpwstr>
  </property>
</Properties>
</file>